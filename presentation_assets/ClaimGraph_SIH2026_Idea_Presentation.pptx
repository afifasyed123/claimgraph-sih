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 sz="1300"/>
            </a:pPr>
            <a:r>
              <a:t>Problem Statement ID: [Enter SIH PS ID]</a:t>
            </a:r>
            <a:endParaRPr lang="en-US" dirty="0"/>
          </a:p>
          <a:p>
            <a:pPr>
              <a:defRPr b="0" sz="1250"/>
            </a:pPr>
            <a:r>
              <a:t>Problem Statement Title: Automated Scrutiny &amp; Cross-Institution Regulatory Verification of Technical Institutions</a:t>
            </a:r>
          </a:p>
          <a:p>
            <a:pPr>
              <a:defRPr b="0" sz="1250"/>
            </a:pPr>
            <a:r>
              <a:t>Theme: Smart Automation / EdTech</a:t>
            </a:r>
          </a:p>
          <a:p>
            <a:pPr>
              <a:defRPr b="0" sz="1250"/>
            </a:pPr>
            <a:r>
              <a:t>PS Category: Software</a:t>
            </a:r>
          </a:p>
          <a:p>
            <a:pPr>
              <a:defRPr b="0" sz="1250"/>
            </a:pPr>
            <a:r>
              <a:t>Team ID: [Your Registered Team ID]</a:t>
            </a:r>
          </a:p>
          <a:p>
            <a:pPr>
              <a:defRPr b="0" sz="1250"/>
            </a:pPr>
            <a:r>
              <a:t>Team Name: [Your Registered Team Name]</a:t>
            </a:r>
          </a:p>
          <a:p>
            <a:pPr>
              <a:spcBef>
                <a:spcPts val="600"/>
              </a:spcBef>
              <a:defRPr b="1" sz="1350">
                <a:solidFill>
                  <a:srgbClr val="0F172A"/>
                </a:solidFill>
              </a:defRPr>
            </a:pPr>
            <a:r>
              <a:t>Idea Title: ClaimGraph-AICTE: Statutory Compliance Intelligence, Evidence Provenance &amp; Campus Reconciliation Engine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 TITLE: ClaimGraph-AICTE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0" rIns="365760" tIns="137160" bIns="137160">
            <a:spAutoFit/>
          </a:bodyPr>
          <a:lstStyle/>
          <a:p>
            <a:pPr marL="342900" indent="-342900">
              <a:spcBef>
                <a:spcPts val="400"/>
              </a:spcBef>
              <a:spcAft>
                <a:spcPts val="200"/>
              </a:spcAft>
              <a:buFont typeface="Wingdings" panose="05000000000000000000" pitchFamily="2" charset="2"/>
              <a:buChar char="v"/>
              <a:defRPr b="1" sz="1250">
                <a:solidFill>
                  <a:srgbClr val="0F172A"/>
                </a:solidFill>
              </a:defRPr>
            </a:pPr>
            <a:r>
              <a:t>Proposed Solution (Describe your Idea/Solution/Prototype):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A statutory compliance intelligence platform automating application scrutiny for AICTE officers.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Converts self-reported claims into an evidence-grounded Knowledge Graph cross-examined with physical PDFs.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Preserves 100% human-in-the-loop governance: AI discovers discrepancies; accredited officers confirm decisions.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50">
                <a:solidFill>
                  <a:srgbClr val="0F172A"/>
                </a:solidFill>
              </a:defRPr>
            </a:pPr>
            <a:r>
              <a:t>Detailed explanation of the proposed solution: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Multi-Document Extraction: Cross-checks intake, land deeds, and faculty lists against resolutions via pypdf.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SHA-256 Byte-Level Deduplication: Detects identical binary documents uploaded under disguised names.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Explainable Discrepancy Cards: Shows claimed values, extracted proof, APH handbook clauses, and regulatory impact.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50">
                <a:solidFill>
                  <a:srgbClr val="0F172A"/>
                </a:solidFill>
              </a:defRPr>
            </a:pPr>
            <a:r>
              <a:t>How it addresses the problem: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Eliminates 100,000+ hours of manual scrutiny across 10,000+ technical institutions nationwide.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Solves single-application blindness: Catches colleges on shared campuses double-pledging faculty or facilities.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Generates itemized statutory deficiency notices with 14-day rectification pathways for institutions.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50">
                <a:solidFill>
                  <a:srgbClr val="0F172A"/>
                </a:solidFill>
              </a:defRPr>
            </a:pPr>
            <a:r>
              <a:t>Innovation and uniqueness of the solution: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Flagship SMT Solver: First platform using Microsoft Z3 Theorem Prover to solve campus resource allocations.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Zero Hallucination: 100% deterministic rule evaluation backed by the AICTE Approval Process Handbook (APH).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Cryptographic Auditability: Decisions sealed into immutable SHA-256 block chains compliant with IT Act 65B.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0" rIns="365760" tIns="137160" bIns="137160">
            <a:spAutoFit/>
          </a:bodyPr>
          <a:lstStyle/>
          <a:p>
            <a:pPr marL="342900" indent="-342900" algn="just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b="1" sz="1250">
                <a:solidFill>
                  <a:srgbClr val="0F172A"/>
                </a:solidFill>
              </a:defRPr>
            </a:pPr>
            <a:r>
              <a:t>Technologies to be used (programming languages, frameworks, hardware):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Frontend &amp; Reviewer UX: React 19, Vite, Tailwind CSS, Lucide Icons, Enterprise Claymorphic UI.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Backend &amp; Logic Engine: Python 3.10+, FastAPI (Asynchronous REST API), Microsoft Z3 SMT Solver, NetworkX.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Data &amp; Cryptographic Layer: SQLite, pypdf stream extraction, SHA-256 append-only block ledger.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Automated Validation: 23 end-to-end integration tests (100% pass rate) running locally and in CI/CD.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50">
                <a:solidFill>
                  <a:srgbClr val="0F172A"/>
                </a:solidFill>
              </a:defRPr>
            </a:pPr>
            <a:r>
              <a:t>Methodology and process for implementation (Flow Charts / Images / working prototype):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Pipeline Flow: PDF Ingestion ➔ Evidence Extraction &amp; Hash Sealing ➔ APH Rule Engine ➔ Multi-College SMT Partitioning ➔ Reviewer Verification Queue ➔ Immutable Audit Sealing ➔ Deficiency Notice Dispatch.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Working Prototype Status: Live prototype running at http://localhost:5173/ with pre-loaded ground truth cases: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• Case A (Apex Institute): Verified Compliant (1:12.5 Student-Faculty Ratio met).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• Case B (Bharat College): Missing Mandatory Document (expired Fire Safety NOC).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• Case C (Chitkara Institute): Sanctioned Intake Mismatch (480 claimed vs 360 resolution) &amp; Campus Sharing Alert.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0" rIns="365760" tIns="137160" bIns="13716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50">
                <a:solidFill>
                  <a:srgbClr val="0F172A"/>
                </a:solidFill>
              </a:defRPr>
            </a:pPr>
            <a:r>
              <a:t>Analysis of the feasibility of the idea: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High Operational Feasibility: Ingests existing standard PDFs without forcing colleges to learn new formats.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High Performance &amp; Scalability: Ingestion in &lt;1.2s per college; campus SMT partition solving in &lt;80ms.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Cost-Effective: Runs on commodity cloud VMs without requiring multi-GPU computing clusters.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50">
                <a:solidFill>
                  <a:srgbClr val="0F172A"/>
                </a:solidFill>
              </a:defRPr>
            </a:pPr>
            <a:r>
              <a:t>Potential challenges and risks: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Risk 1: Scanned or low-quality mobile uploads and handwritten municipal certificates.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Risk 2: Officer &amp; institutional apprehension toward black-box automated approvals or rejections.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Risk 3: Data privacy and confidentiality of faculty identity numbers (Aadhaar / PAN).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50">
                <a:solidFill>
                  <a:srgbClr val="0F172A"/>
                </a:solidFill>
              </a:defRPr>
            </a:pPr>
            <a:r>
              <a:t>Strategies for overcoming these challenges: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Dual-Stream OCR &amp; Confidence Scoring: Flags low-confidence extractions for officer review instead of guessing.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Strict Human-in-the-Loop Safeguards: AICTE regulatory policy strictly enforced: AI assists; humans decide.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Cryptographic Tokenization: One-way salted SHA-256 hashes protect sensitive faculty identity records.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0" rIns="365760" tIns="137160" bIns="13716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50">
                <a:solidFill>
                  <a:srgbClr val="0F172A"/>
                </a:solidFill>
              </a:defRPr>
            </a:pPr>
            <a:r>
              <a:t>Potential impact on the target audience: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AICTE Scrutiny Officers: Reduces scrutiny cycle from 45 days to under 48 hours; eliminates human fatigue.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Technical Institutions: Receives transparent, legally cited notices with handbook clauses and 14-day remedy.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Students &amp; Parents: Guarantees certified laboratory space and legitimate, non-ghost faculty across colleges.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b="1" sz="1250">
                <a:solidFill>
                  <a:srgbClr val="0F172A"/>
                </a:solidFill>
              </a:defRPr>
            </a:pPr>
            <a:r>
              <a:t>Benefits of the solution (social, economic, environmental, etc.):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Statutory &amp; Legal Governance: Meets Section 65B of Indian Information Technology Act for electronic evidence.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Economic Savings: Saves tens of crores in administrative scrutiny costs and wasteful physical inspection visits.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Anti-Corruption Integrity: Cryptographic hash chaining prevents retrospective record tampering or document swaps.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Environmental Sustainability: Completely paperless end-to-end digital audit trail eliminating physical paper filing.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0" rIns="365760" tIns="137160" bIns="137160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 b="1" sz="1250">
                <a:solidFill>
                  <a:srgbClr val="0F172A"/>
                </a:solidFill>
              </a:defRPr>
            </a:pPr>
            <a:r>
              <a:t>Details / Links of the reference and research work: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[1] AICTE Approval Process Handbook (APH 2024-25 to 2026-27), All India Council for Technical Education, New Delhi.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[2] All India Council for Technical Education Act, 1987 (Act 52 of 1987): Statutory norms and approval powers.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[3] Indian Information Technology Act, 2000 — Section 65B: Admissibility of electronic records and cryptographic hashes.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[4] De Moura, L., &amp; Bjorner, N. (2008). Z3: An Efficient SMT Solver. TACAS 2008, Lecture Notes in Computer Science, Springer.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[5] ISO/IEC 27001 &amp; NIST SP 800-92: Standards for Information Security and Tamper-Proof Audit Log Management.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b="0" sz="1000">
                <a:solidFill>
                  <a:srgbClr val="1E293B"/>
                </a:solidFill>
              </a:defRPr>
            </a:pPr>
            <a:r>
              <a:t>  •  [6] Hogan, A., et al. (2021). Knowledge Graphs. ACM Computing Surveys (CSUR), 54(4), 1-37.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Ashish Tikone (External)</cp:lastModifiedBy>
  <cp:revision>148</cp:revision>
  <dcterms:created xsi:type="dcterms:W3CDTF">2013-12-12T18:46:50Z</dcterms:created>
  <dcterms:modified xsi:type="dcterms:W3CDTF">2026-09-09T10:32:05Z</dcterms:modified>
  <cp:category/>
</cp:coreProperties>
</file>